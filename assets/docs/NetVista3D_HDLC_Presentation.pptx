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respected faculty examiner. I am presenting my individual assessment project on Bit Stuffing in HDLC under Student ID 25CS016. In this presentation, I will cover the HDLC protocol background, stuffing rules, Python core algorithms, automated test suite, and live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the exact assignment directives for topic 'Bit Stuffing in HDLC' under Student ID 25CS016. The primary goal is to ensure data transparency at the Data Link Layer by preventing flag pattern mimicry.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HDLC uses the 8-bit pattern 01111110 as its frame delimiter. Because data payloads can contain any arbitrary bit sequence, a mechanism is required to prevent data from being mistaken for a flag sequence.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compare frame transmission with and without bit stuffing. Without stuffing, a payload containing 01111110 causes false frame termination. With stuffing, the inserted 0 breaks the six consecutive 1s pattern inside payload.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sender inserts a zero after every 5 consecutive ones. The receiver detects 5 consecutive ones and discards the following zero.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exact Python function for sender bit stuffing. The loop iterates bit by bit, incrementing the consecutive ones counter, and appends a zero whenever 5 ones are seen.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receiver algorithm verifies the stuffed stream. When 5 consecutive ones are encountered, it confirms the next bit is '0' and skips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visualizes the end-to-end transmission flow: original payload, sender stuffing, HDLC framing, and receiver extraction and destuffing.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follows a clean separation of concerns into core algorithm, CLI, GUI, experiment runner, and test suite.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screenshot demonstrates the interactive Python Tkinter dashboard. It displays input payload, stuffed output with highlighted zero bits, framed stream, restored output, status metrics, and step-by-step audit treeview.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summarizes the mandatory assignment test cases. Every case passed verification with 100% restored data accuracy.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overhead graph illustrates the direct relationship between 1-bit density and bit stuffing overhead percentage. Higher 1-bit density produces more stuffed zeros.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worked example illustrates the complete end-to-end exam numerical solution. Two zeros are inserted in the 15-bit input stream.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bit stuffing ensures data transparency in HDLC. The educational implementation cleanly separates payload stuffing from full HDLC production features.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I am now ready for any viva questions or code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10362895" cy="4663440"/>
          </a:xfrm>
          <a:prstGeom prst="roundRect">
            <a:avLst/>
          </a:prstGeom>
          <a:solidFill>
            <a:srgbClr val="1E293B"/>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463040"/>
            <a:ext cx="9448495" cy="3931920"/>
          </a:xfrm>
          <a:prstGeom prst="rect">
            <a:avLst/>
          </a:prstGeom>
          <a:noFill/>
        </p:spPr>
        <p:txBody>
          <a:bodyPr wrap="square">
            <a:spAutoFit/>
          </a:bodyPr>
          <a:lstStyle/>
          <a:p>
            <a:pPr>
              <a:spcAft>
                <a:spcPts val="1500"/>
              </a:spcAft>
              <a:defRPr sz="1300" b="1">
                <a:solidFill>
                  <a:srgbClr val="38BDF8"/>
                </a:solidFill>
              </a:defRPr>
            </a:pPr>
            <a:r>
              <a:t>CHAROTAR UNIVERSITY OF SCIENCE AND TECHNOLOGY (CHARUSAT)</a:t>
            </a:r>
          </a:p>
          <a:p>
            <a:pPr>
              <a:spcAft>
                <a:spcPts val="1000"/>
              </a:spcAft>
              <a:defRPr sz="2800" b="1">
                <a:solidFill>
                  <a:srgbClr val="FFFFFF"/>
                </a:solidFill>
              </a:defRPr>
            </a:pPr>
            <a:r>
              <a:t>Bit Stuffing &amp; Destuffing in HDLC Protocol</a:t>
            </a:r>
          </a:p>
          <a:p>
            <a:pPr>
              <a:spcAft>
                <a:spcPts val="2500"/>
              </a:spcAft>
              <a:defRPr sz="1600">
                <a:solidFill>
                  <a:srgbClr val="F59E0B"/>
                </a:solidFill>
              </a:defRPr>
            </a:pPr>
            <a:r>
              <a:t>NetVista 3D — Individual Performance-Based Assessment Package</a:t>
            </a:r>
          </a:p>
          <a:p>
            <a:pPr>
              <a:defRPr sz="1200">
                <a:solidFill>
                  <a:srgbClr val="94A3B8"/>
                </a:solidFill>
              </a:defRPr>
            </a:pPr>
            <a:r>
              <a:t>Course: ITUC201 — Fundamentals of Computer Networks  |  Program: B.Tech, Semester 3</a:t>
            </a:r>
            <a:br/>
            <a:r>
              <a:t>Student ID: 25CS016  |  Student Name: [Student Name]  |  Academic Year: 2026–27</a:t>
            </a:r>
            <a:br/>
            <a:r>
              <a:t>Submission Deadline: 22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284C7"/>
                </a:solidFill>
              </a:defRPr>
            </a:pPr>
            <a:r>
              <a:t>NETVISTA 3D — ITUC201</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0F172A"/>
                </a:solidFill>
              </a:defRPr>
            </a:pPr>
            <a:r>
              <a:t>1. Project Objectives &amp; Assignment Scope</a:t>
            </a:r>
          </a:p>
        </p:txBody>
      </p:sp>
      <p:sp>
        <p:nvSpPr>
          <p:cNvPr id="4" name="Rounded Rectangle 3"/>
          <p:cNvSpPr/>
          <p:nvPr/>
        </p:nvSpPr>
        <p:spPr>
          <a:xfrm>
            <a:off x="731520" y="1371600"/>
            <a:ext cx="5120640" cy="475488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389120"/>
          </a:xfrm>
          <a:prstGeom prst="rect">
            <a:avLst/>
          </a:prstGeom>
          <a:noFill/>
        </p:spPr>
        <p:txBody>
          <a:bodyPr wrap="square">
            <a:spAutoFit/>
          </a:bodyPr>
          <a:lstStyle/>
          <a:p>
            <a:pPr>
              <a:spcAft>
                <a:spcPts val="1200"/>
              </a:spcAft>
              <a:defRPr sz="1600" b="1">
                <a:solidFill>
                  <a:srgbClr val="0F172A"/>
                </a:solidFill>
              </a:defRPr>
            </a:pPr>
            <a:r>
              <a:t>Mandatory Assignment Directives</a:t>
            </a:r>
          </a:p>
          <a:p>
            <a:pPr>
              <a:spcAft>
                <a:spcPts val="1000"/>
              </a:spcAft>
              <a:defRPr sz="1200">
                <a:solidFill>
                  <a:srgbClr val="1E293B"/>
                </a:solidFill>
              </a:defRPr>
            </a:pPr>
            <a:r>
              <a:t>• Student ID: 25CS016 | Assigned Topic: Bit Stuffing in HDLC</a:t>
            </a:r>
          </a:p>
          <a:p>
            <a:pPr>
              <a:spcAft>
                <a:spcPts val="1000"/>
              </a:spcAft>
              <a:defRPr sz="1200">
                <a:solidFill>
                  <a:srgbClr val="1E293B"/>
                </a:solidFill>
              </a:defRPr>
            </a:pPr>
            <a:r>
              <a:t>• Implement sender bit stuffing and receiver destuffing in Python.</a:t>
            </a:r>
          </a:p>
          <a:p>
            <a:pPr>
              <a:spcAft>
                <a:spcPts val="1000"/>
              </a:spcAft>
              <a:defRPr sz="1200">
                <a:solidFill>
                  <a:srgbClr val="1E293B"/>
                </a:solidFill>
              </a:defRPr>
            </a:pPr>
            <a:r>
              <a:t>• Test messages containing runs of five 1-bits and verify restoration.</a:t>
            </a:r>
          </a:p>
          <a:p>
            <a:pPr>
              <a:spcAft>
                <a:spcPts val="1000"/>
              </a:spcAft>
              <a:defRPr sz="1200">
                <a:solidFill>
                  <a:srgbClr val="1E293B"/>
                </a:solidFill>
              </a:defRPr>
            </a:pPr>
            <a:r>
              <a:t>• Construct educational framing using HDLC flag 01111110.</a:t>
            </a:r>
          </a:p>
          <a:p>
            <a:pPr>
              <a:spcAft>
                <a:spcPts val="1000"/>
              </a:spcAft>
              <a:defRPr sz="1200">
                <a:solidFill>
                  <a:srgbClr val="1E293B"/>
                </a:solidFill>
              </a:defRPr>
            </a:pPr>
            <a:r>
              <a:t>• Deliver complete code, GUI visualization, unit tests, and technical documentation.</a:t>
            </a:r>
          </a:p>
        </p:txBody>
      </p:sp>
      <p:sp>
        <p:nvSpPr>
          <p:cNvPr id="6" name="Rounded Rectangle 5"/>
          <p:cNvSpPr/>
          <p:nvPr/>
        </p:nvSpPr>
        <p:spPr>
          <a:xfrm>
            <a:off x="6217920" y="1371600"/>
            <a:ext cx="5212080" cy="475488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389120"/>
          </a:xfrm>
          <a:prstGeom prst="rect">
            <a:avLst/>
          </a:prstGeom>
          <a:noFill/>
        </p:spPr>
        <p:txBody>
          <a:bodyPr wrap="square">
            <a:spAutoFit/>
          </a:bodyPr>
          <a:lstStyle/>
          <a:p>
            <a:pPr>
              <a:spcAft>
                <a:spcPts val="1200"/>
              </a:spcAft>
              <a:defRPr sz="1600" b="1">
                <a:solidFill>
                  <a:srgbClr val="0D9488"/>
                </a:solidFill>
              </a:defRPr>
            </a:pPr>
            <a:r>
              <a:t>Key Technical Outcomes</a:t>
            </a:r>
          </a:p>
          <a:p>
            <a:pPr>
              <a:spcAft>
                <a:spcPts val="1000"/>
              </a:spcAft>
              <a:defRPr sz="1200">
                <a:solidFill>
                  <a:srgbClr val="FFFFFF"/>
                </a:solidFill>
              </a:defRPr>
            </a:pPr>
            <a:r>
              <a:t>✔ Data Transparency: Ensure arbitrary payload content cannot cause false frame termination.</a:t>
            </a:r>
          </a:p>
          <a:p>
            <a:pPr>
              <a:spcAft>
                <a:spcPts val="1000"/>
              </a:spcAft>
              <a:defRPr sz="1200">
                <a:solidFill>
                  <a:srgbClr val="FFFFFF"/>
                </a:solidFill>
              </a:defRPr>
            </a:pPr>
            <a:r>
              <a:t>✔ Algorithmic Correctness: Zero-loss roundtrip destuffing across all 1-bit sequences.</a:t>
            </a:r>
          </a:p>
          <a:p>
            <a:pPr>
              <a:spcAft>
                <a:spcPts val="1000"/>
              </a:spcAft>
              <a:defRPr sz="1200">
                <a:solidFill>
                  <a:srgbClr val="FFFFFF"/>
                </a:solidFill>
              </a:defRPr>
            </a:pPr>
            <a:r>
              <a:t>✔ Robust Boundary Handling: Comprehensive handling of edge cases (empty strings, malformed streams).</a:t>
            </a:r>
          </a:p>
          <a:p>
            <a:pPr>
              <a:spcAft>
                <a:spcPts val="1000"/>
              </a:spcAft>
              <a:defRPr sz="1200">
                <a:solidFill>
                  <a:srgbClr val="FFFFFF"/>
                </a:solidFill>
              </a:defRPr>
            </a:pPr>
            <a:r>
              <a:t>✔ Quantitative Evaluation: Measuring stuffing overhead (% insertion) vs 1-bit density.</a:t>
            </a:r>
          </a:p>
          <a:p>
            <a:pPr>
              <a:spcAft>
                <a:spcPts val="1000"/>
              </a:spcAft>
              <a:defRPr sz="1200">
                <a:solidFill>
                  <a:srgbClr val="FFFFFF"/>
                </a:solidFill>
              </a:defRPr>
            </a:pPr>
            <a:r>
              <a:t>✔ Reproducible Verification: 100% test pass rate across unit tests and randomized benchmarks.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284C7"/>
                </a:solidFill>
              </a:defRPr>
            </a:pPr>
            <a:r>
              <a:t>NETVISTA 3D — ITUC201</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0F172A"/>
                </a:solidFill>
              </a:defRPr>
            </a:pPr>
            <a:r>
              <a:t>2. HDLC Protocol &amp; Framing Fundamentals</a:t>
            </a:r>
          </a:p>
        </p:txBody>
      </p:sp>
      <p:sp>
        <p:nvSpPr>
          <p:cNvPr id="4" name="Rounded Rectangle 3"/>
          <p:cNvSpPr/>
          <p:nvPr/>
        </p:nvSpPr>
        <p:spPr>
          <a:xfrm>
            <a:off x="731520" y="1371600"/>
            <a:ext cx="10698480" cy="475488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10149840" cy="4389120"/>
          </a:xfrm>
          <a:prstGeom prst="rect">
            <a:avLst/>
          </a:prstGeom>
          <a:noFill/>
        </p:spPr>
        <p:txBody>
          <a:bodyPr wrap="square">
            <a:spAutoFit/>
          </a:bodyPr>
          <a:lstStyle/>
          <a:p>
            <a:pPr>
              <a:spcAft>
                <a:spcPts val="1200"/>
              </a:spcAft>
              <a:defRPr sz="1800" b="1">
                <a:solidFill>
                  <a:srgbClr val="0F172A"/>
                </a:solidFill>
              </a:defRPr>
            </a:pPr>
            <a:r>
              <a:t>High-Level Data Link Control (HDLC) Framing</a:t>
            </a:r>
          </a:p>
          <a:p>
            <a:pPr>
              <a:defRPr sz="1300" b="1">
                <a:solidFill>
                  <a:srgbClr val="0284C7"/>
                </a:solidFill>
              </a:defRPr>
            </a:pPr>
            <a:r>
              <a:t>Bit-Oriented Synchronization:</a:t>
            </a:r>
          </a:p>
          <a:p>
            <a:pPr>
              <a:spcAft>
                <a:spcPts val="1000"/>
              </a:spcAft>
              <a:defRPr sz="1100">
                <a:solidFill>
                  <a:srgbClr val="1E293B"/>
                </a:solidFill>
              </a:defRPr>
            </a:pPr>
            <a:r>
              <a:t>HDLC is a bit-oriented Data Link Layer protocol that transmits data as a continuous bit stream regardless of byte boundaries.</a:t>
            </a:r>
          </a:p>
          <a:p>
            <a:pPr>
              <a:defRPr sz="1300" b="1">
                <a:solidFill>
                  <a:srgbClr val="0284C7"/>
                </a:solidFill>
              </a:defRPr>
            </a:pPr>
            <a:r>
              <a:t>The HDLC Flag Delimiter:</a:t>
            </a:r>
          </a:p>
          <a:p>
            <a:pPr>
              <a:spcAft>
                <a:spcPts val="1000"/>
              </a:spcAft>
              <a:defRPr sz="1100">
                <a:solidFill>
                  <a:srgbClr val="1E293B"/>
                </a:solidFill>
              </a:defRPr>
            </a:pPr>
            <a:r>
              <a:t>Frames are bounded by the unique 8-bit flag sequence 01111110 (0x7E). It marks both frame beginning and end.</a:t>
            </a:r>
          </a:p>
          <a:p>
            <a:pPr>
              <a:defRPr sz="1300" b="1">
                <a:solidFill>
                  <a:srgbClr val="0284C7"/>
                </a:solidFill>
              </a:defRPr>
            </a:pPr>
            <a:r>
              <a:t>The Transparency Problem:</a:t>
            </a:r>
          </a:p>
          <a:p>
            <a:pPr>
              <a:spcAft>
                <a:spcPts val="1000"/>
              </a:spcAft>
              <a:defRPr sz="1100">
                <a:solidFill>
                  <a:srgbClr val="1E293B"/>
                </a:solidFill>
              </a:defRPr>
            </a:pPr>
            <a:r>
              <a:t>If user data payload naturally contains 01111110, physical layer receivers will prematurely terminate the frame.</a:t>
            </a:r>
          </a:p>
          <a:p>
            <a:pPr>
              <a:defRPr sz="1300" b="1">
                <a:solidFill>
                  <a:srgbClr val="0284C7"/>
                </a:solidFill>
              </a:defRPr>
            </a:pPr>
            <a:r>
              <a:t>Educational Frame Scope:</a:t>
            </a:r>
          </a:p>
          <a:p>
            <a:pPr>
              <a:spcAft>
                <a:spcPts val="1000"/>
              </a:spcAft>
              <a:defRPr sz="1100">
                <a:solidFill>
                  <a:srgbClr val="1E293B"/>
                </a:solidFill>
              </a:defRPr>
            </a:pPr>
            <a:r>
              <a:t>This project implements the core bit-stuffing mechanism (FLAG | STUFFED PAYLOAD | FLAG). Real HDLC includes Address, Control, and FCS fields.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284C7"/>
                </a:solidFill>
              </a:defRPr>
            </a:pPr>
            <a:r>
              <a:t>NETVISTA 3D — ITUC201</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0F172A"/>
                </a:solidFill>
              </a:defRPr>
            </a:pPr>
            <a:r>
              <a:t>3. Purpose of Bit Stuffing &amp; Data Transparency</a:t>
            </a:r>
          </a:p>
        </p:txBody>
      </p:sp>
      <p:sp>
        <p:nvSpPr>
          <p:cNvPr id="4" name="Rounded Rectangle 3"/>
          <p:cNvSpPr/>
          <p:nvPr/>
        </p:nvSpPr>
        <p:spPr>
          <a:xfrm>
            <a:off x="731520" y="1371600"/>
            <a:ext cx="5120640" cy="47548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389120"/>
          </a:xfrm>
          <a:prstGeom prst="rect">
            <a:avLst/>
          </a:prstGeom>
          <a:noFill/>
        </p:spPr>
        <p:txBody>
          <a:bodyPr wrap="square">
            <a:spAutoFit/>
          </a:bodyPr>
          <a:lstStyle/>
          <a:p>
            <a:pPr>
              <a:spcAft>
                <a:spcPts val="1200"/>
              </a:spcAft>
              <a:defRPr sz="1600" b="1">
                <a:solidFill>
                  <a:srgbClr val="F59E0B"/>
                </a:solidFill>
              </a:defRPr>
            </a:pPr>
            <a:r>
              <a:t>WITHOUT Bit Stuffing (Corrupted Framing)</a:t>
            </a:r>
          </a:p>
          <a:p>
            <a:pPr>
              <a:spcAft>
                <a:spcPts val="1200"/>
              </a:spcAft>
              <a:defRPr sz="1200">
                <a:solidFill>
                  <a:srgbClr val="FFFFFF"/>
                </a:solidFill>
              </a:defRPr>
            </a:pPr>
            <a:r>
              <a:t>❌ Payload contains 01111110 naturally.</a:t>
            </a:r>
          </a:p>
          <a:p>
            <a:pPr>
              <a:spcAft>
                <a:spcPts val="1200"/>
              </a:spcAft>
              <a:defRPr sz="1200">
                <a:solidFill>
                  <a:srgbClr val="FFFFFF"/>
                </a:solidFill>
              </a:defRPr>
            </a:pPr>
            <a:r>
              <a:t>❌ Transmitted Frame:</a:t>
            </a:r>
            <a:br/>
            <a:r>
              <a:t>[01111110] 01111110 [01111110]</a:t>
            </a:r>
          </a:p>
          <a:p>
            <a:pPr>
              <a:spcAft>
                <a:spcPts val="1200"/>
              </a:spcAft>
              <a:defRPr sz="1200">
                <a:solidFill>
                  <a:srgbClr val="FFFFFF"/>
                </a:solidFill>
              </a:defRPr>
            </a:pPr>
            <a:r>
              <a:t>❌ Receiver sees 01111110 as closing flag!</a:t>
            </a:r>
          </a:p>
          <a:p>
            <a:pPr>
              <a:spcAft>
                <a:spcPts val="1200"/>
              </a:spcAft>
              <a:defRPr sz="1200">
                <a:solidFill>
                  <a:srgbClr val="FFFFFF"/>
                </a:solidFill>
              </a:defRPr>
            </a:pPr>
            <a:r>
              <a:t>❌ Result: Premature frame truncation and loss of remaining payload.</a:t>
            </a:r>
          </a:p>
        </p:txBody>
      </p:sp>
      <p:sp>
        <p:nvSpPr>
          <p:cNvPr id="6" name="Rounded Rectangle 5"/>
          <p:cNvSpPr/>
          <p:nvPr/>
        </p:nvSpPr>
        <p:spPr>
          <a:xfrm>
            <a:off x="6217920" y="1371600"/>
            <a:ext cx="5212080" cy="4754880"/>
          </a:xfrm>
          <a:prstGeom prst="roundRect">
            <a:avLst/>
          </a:prstGeom>
          <a:solidFill>
            <a:srgbClr val="1E293B"/>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389120"/>
          </a:xfrm>
          <a:prstGeom prst="rect">
            <a:avLst/>
          </a:prstGeom>
          <a:noFill/>
        </p:spPr>
        <p:txBody>
          <a:bodyPr wrap="square">
            <a:spAutoFit/>
          </a:bodyPr>
          <a:lstStyle/>
          <a:p>
            <a:pPr>
              <a:spcAft>
                <a:spcPts val="1200"/>
              </a:spcAft>
              <a:defRPr sz="1600" b="1">
                <a:solidFill>
                  <a:srgbClr val="38BDF8"/>
                </a:solidFill>
              </a:defRPr>
            </a:pPr>
            <a:r>
              <a:t>WITH Bit Stuffing (Guaranteed Transparency)</a:t>
            </a:r>
          </a:p>
          <a:p>
            <a:pPr>
              <a:spcAft>
                <a:spcPts val="1200"/>
              </a:spcAft>
              <a:defRPr sz="1200">
                <a:solidFill>
                  <a:srgbClr val="FFFFFF"/>
                </a:solidFill>
              </a:defRPr>
            </a:pPr>
            <a:r>
              <a:t>✔ Sender inserts '0' after five 1s.</a:t>
            </a:r>
          </a:p>
          <a:p>
            <a:pPr>
              <a:spcAft>
                <a:spcPts val="1200"/>
              </a:spcAft>
              <a:defRPr sz="1200">
                <a:solidFill>
                  <a:srgbClr val="FFFFFF"/>
                </a:solidFill>
              </a:defRPr>
            </a:pPr>
            <a:r>
              <a:t>✔ Stuffed Payload becomes: 011111010</a:t>
            </a:r>
          </a:p>
          <a:p>
            <a:pPr>
              <a:spcAft>
                <a:spcPts val="1200"/>
              </a:spcAft>
              <a:defRPr sz="1200">
                <a:solidFill>
                  <a:srgbClr val="FFFFFF"/>
                </a:solidFill>
              </a:defRPr>
            </a:pPr>
            <a:r>
              <a:t>✔ Transmitted Frame:</a:t>
            </a:r>
            <a:br/>
            <a:r>
              <a:t>[01111110] 011111010 [01111110]</a:t>
            </a:r>
          </a:p>
          <a:p>
            <a:pPr>
              <a:spcAft>
                <a:spcPts val="1200"/>
              </a:spcAft>
              <a:defRPr sz="1200">
                <a:solidFill>
                  <a:srgbClr val="FFFFFF"/>
                </a:solidFill>
              </a:defRPr>
            </a:pPr>
            <a:r>
              <a:t>✔ Receiver destuffs 011111010 -&gt; 01111110</a:t>
            </a:r>
          </a:p>
          <a:p>
            <a:pPr>
              <a:spcAft>
                <a:spcPts val="1200"/>
              </a:spcAft>
              <a:defRPr sz="1200">
                <a:solidFill>
                  <a:srgbClr val="FFFFFF"/>
                </a:solidFill>
              </a:defRPr>
            </a:pPr>
            <a:r>
              <a:t>✔ Result: 100% data integrity and perfect synchronization.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284C7"/>
                </a:solidFill>
              </a:defRPr>
            </a:pPr>
            <a:r>
              <a:t>NETVISTA 3D — ITUC201</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0F172A"/>
                </a:solidFill>
              </a:defRPr>
            </a:pPr>
            <a:r>
              <a:t>4. Exact Bit Stuffing &amp; Destuffing Rules</a:t>
            </a:r>
          </a:p>
        </p:txBody>
      </p:sp>
      <p:sp>
        <p:nvSpPr>
          <p:cNvPr id="4" name="Rounded Rectangle 3"/>
          <p:cNvSpPr/>
          <p:nvPr/>
        </p:nvSpPr>
        <p:spPr>
          <a:xfrm>
            <a:off x="731520" y="1371600"/>
            <a:ext cx="10698480" cy="475488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10149840" cy="4389120"/>
          </a:xfrm>
          <a:prstGeom prst="rect">
            <a:avLst/>
          </a:prstGeom>
          <a:noFill/>
        </p:spPr>
        <p:txBody>
          <a:bodyPr wrap="square">
            <a:spAutoFit/>
          </a:bodyPr>
          <a:lstStyle/>
          <a:p>
            <a:pPr>
              <a:spcAft>
                <a:spcPts val="1400"/>
              </a:spcAft>
              <a:defRPr sz="1800" b="1">
                <a:solidFill>
                  <a:srgbClr val="0F172A"/>
                </a:solidFill>
              </a:defRPr>
            </a:pPr>
            <a:r>
              <a:t>Mathematical Protocol Rules</a:t>
            </a:r>
          </a:p>
          <a:p>
            <a:pPr>
              <a:defRPr sz="1300" b="1">
                <a:solidFill>
                  <a:srgbClr val="0284C7"/>
                </a:solidFill>
              </a:defRPr>
            </a:pPr>
            <a:r>
              <a:t>Sender Stuffing Rule:</a:t>
            </a:r>
          </a:p>
          <a:p>
            <a:pPr>
              <a:spcAft>
                <a:spcPts val="1000"/>
              </a:spcAft>
              <a:defRPr sz="1100">
                <a:solidFill>
                  <a:srgbClr val="1E293B"/>
                </a:solidFill>
              </a:defRPr>
            </a:pPr>
            <a:r>
              <a:t>Scan payload sequentially while maintaining a running counter of consecutive '1' bits. Whenever the count reaches 5 ('11111'), insert an additional '0' bit immediately after the fifth '1', and reset the counter to 0.</a:t>
            </a:r>
          </a:p>
          <a:p>
            <a:pPr>
              <a:defRPr sz="1300" b="1">
                <a:solidFill>
                  <a:srgbClr val="0284C7"/>
                </a:solidFill>
              </a:defRPr>
            </a:pPr>
            <a:r>
              <a:t>Receiver Destuffing Rule:</a:t>
            </a:r>
          </a:p>
          <a:p>
            <a:pPr>
              <a:spcAft>
                <a:spcPts val="1000"/>
              </a:spcAft>
              <a:defRPr sz="1100">
                <a:solidFill>
                  <a:srgbClr val="1E293B"/>
                </a:solidFill>
              </a:defRPr>
            </a:pPr>
            <a:r>
              <a:t>Scan stuffed payload sequentially. Whenever 5 consecutive '1' bits are encountered, inspect the next bit. If it is '0', remove (discard) it and reset counter. If it is '1', flag error or delimiter.</a:t>
            </a:r>
          </a:p>
          <a:p>
            <a:pPr>
              <a:defRPr sz="1300" b="1">
                <a:solidFill>
                  <a:srgbClr val="0284C7"/>
                </a:solidFill>
              </a:defRPr>
            </a:pPr>
            <a:r>
              <a:t>Flag Exception:</a:t>
            </a:r>
          </a:p>
          <a:p>
            <a:pPr>
              <a:spcAft>
                <a:spcPts val="1000"/>
              </a:spcAft>
              <a:defRPr sz="1100">
                <a:solidFill>
                  <a:srgbClr val="1E293B"/>
                </a:solidFill>
              </a:defRPr>
            </a:pPr>
            <a:r>
              <a:t>Opening and closing flag delimiters (01111110) are added AFTER sender stuffing and removed BEFORE receiver destuffing. Flags are NEVER stuffed.</a:t>
            </a:r>
          </a:p>
          <a:p>
            <a:pPr>
              <a:defRPr sz="1300" b="1">
                <a:solidFill>
                  <a:srgbClr val="0284C7"/>
                </a:solidFill>
              </a:defRPr>
            </a:pPr>
            <a:r>
              <a:t>Worked Standard Example:</a:t>
            </a:r>
          </a:p>
          <a:p>
            <a:pPr>
              <a:spcAft>
                <a:spcPts val="1000"/>
              </a:spcAft>
              <a:defRPr sz="1100">
                <a:solidFill>
                  <a:srgbClr val="1E293B"/>
                </a:solidFill>
              </a:defRPr>
            </a:pPr>
            <a:r>
              <a:t>Original Data: 01111110  ➔  Sender Stuffed: 011111010  ➔  Receiver Destuffed: 01111110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284C7"/>
                </a:solidFill>
              </a:defRPr>
            </a:pPr>
            <a:r>
              <a:t>NETVISTA 3D — ITUC201</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0F172A"/>
                </a:solidFill>
              </a:defRPr>
            </a:pPr>
            <a:r>
              <a:t>5. Sender Bit Stuffing Algorithm</a:t>
            </a:r>
          </a:p>
        </p:txBody>
      </p:sp>
      <p:sp>
        <p:nvSpPr>
          <p:cNvPr id="4" name="Rounded Rectangle 3"/>
          <p:cNvSpPr/>
          <p:nvPr/>
        </p:nvSpPr>
        <p:spPr>
          <a:xfrm>
            <a:off x="731520" y="1371600"/>
            <a:ext cx="10698480" cy="4754880"/>
          </a:xfrm>
          <a:prstGeom prst="roundRect">
            <a:avLst/>
          </a:prstGeom>
          <a:solidFill>
            <a:srgbClr val="1E293B"/>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10149840" cy="4389120"/>
          </a:xfrm>
          <a:prstGeom prst="rect">
            <a:avLst/>
          </a:prstGeom>
          <a:noFill/>
        </p:spPr>
        <p:txBody>
          <a:bodyPr wrap="square">
            <a:spAutoFit/>
          </a:bodyPr>
          <a:lstStyle/>
          <a:p>
            <a:pPr>
              <a:spcAft>
                <a:spcPts val="1000"/>
              </a:spcAft>
              <a:defRPr sz="1600" b="1">
                <a:solidFill>
                  <a:srgbClr val="38BDF8"/>
                </a:solidFill>
              </a:defRPr>
            </a:pPr>
            <a:r>
              <a:t>Python Sender Logic (sender_bit_stuff)</a:t>
            </a:r>
          </a:p>
          <a:p>
            <a:pPr>
              <a:defRPr sz="1100">
                <a:solidFill>
                  <a:srgbClr val="FFFFFF"/>
                </a:solidFill>
                <a:latin typeface="Courier New"/>
              </a:defRPr>
            </a:pPr>
            <a:r>
              <a:t>def sender_bit_stuff(payload: str) -&gt; str:</a:t>
            </a:r>
            <a:br/>
            <a:r>
              <a:t>    clean_payload = validate_binary_string(payload, 'Payload')</a:t>
            </a:r>
            <a:br/>
            <a:r>
              <a:t>    stuffed = []</a:t>
            </a:r>
            <a:br/>
            <a:r>
              <a:t>    consecutive_ones = 0</a:t>
            </a:r>
            <a:br/>
            <a:br/>
            <a:r>
              <a:t>    for bit in clean_payload:</a:t>
            </a:r>
            <a:br/>
            <a:r>
              <a:t>        stuffed.append(bit)</a:t>
            </a:r>
            <a:br/>
            <a:r>
              <a:t>        if bit == '1':</a:t>
            </a:r>
            <a:br/>
            <a:r>
              <a:t>            consecutive_ones += 1</a:t>
            </a:r>
            <a:br/>
            <a:r>
              <a:t>            if consecutive_ones == 5:</a:t>
            </a:r>
            <a:br/>
            <a:r>
              <a:t>                stuffed.append('0')  # Insert stuffed zero</a:t>
            </a:r>
            <a:br/>
            <a:r>
              <a:t>                consecutive_ones = 0</a:t>
            </a:r>
            <a:br/>
            <a:r>
              <a:t>        else:</a:t>
            </a:r>
            <a:br/>
            <a:r>
              <a:t>            consecutive_ones = 0</a:t>
            </a:r>
            <a:br/>
            <a:br/>
            <a:r>
              <a:t>    return ''.join(stuffed)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284C7"/>
                </a:solidFill>
              </a:defRPr>
            </a:pPr>
            <a:r>
              <a:t>NETVISTA 3D — ITUC201</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0F172A"/>
                </a:solidFill>
              </a:defRPr>
            </a:pPr>
            <a:r>
              <a:t>6. Receiver Bit Destuffing Algorithm</a:t>
            </a:r>
          </a:p>
        </p:txBody>
      </p:sp>
      <p:sp>
        <p:nvSpPr>
          <p:cNvPr id="4" name="Rounded Rectangle 3"/>
          <p:cNvSpPr/>
          <p:nvPr/>
        </p:nvSpPr>
        <p:spPr>
          <a:xfrm>
            <a:off x="731520" y="1371600"/>
            <a:ext cx="10698480" cy="475488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10149840" cy="4389120"/>
          </a:xfrm>
          <a:prstGeom prst="rect">
            <a:avLst/>
          </a:prstGeom>
          <a:noFill/>
        </p:spPr>
        <p:txBody>
          <a:bodyPr wrap="square">
            <a:spAutoFit/>
          </a:bodyPr>
          <a:lstStyle/>
          <a:p>
            <a:pPr>
              <a:spcAft>
                <a:spcPts val="1000"/>
              </a:spcAft>
              <a:defRPr sz="1600" b="1">
                <a:solidFill>
                  <a:srgbClr val="0D9488"/>
                </a:solidFill>
              </a:defRPr>
            </a:pPr>
            <a:r>
              <a:t>Python Receiver Logic (receiver_bit_destuff)</a:t>
            </a:r>
          </a:p>
          <a:p>
            <a:pPr>
              <a:defRPr sz="1050">
                <a:solidFill>
                  <a:srgbClr val="FFFFFF"/>
                </a:solidFill>
                <a:latin typeface="Courier New"/>
              </a:defRPr>
            </a:pPr>
            <a:r>
              <a:t>def receiver_bit_destuff(stuffed_payload: str) -&gt; str:</a:t>
            </a:r>
            <a:br/>
            <a:r>
              <a:t>    clean_stuffed = validate_binary_string(stuffed_payload, 'Stuffed Payload')</a:t>
            </a:r>
            <a:br/>
            <a:r>
              <a:t>    destuffed, consecutive_ones, idx = [], 0, 0</a:t>
            </a:r>
            <a:br/>
            <a:r>
              <a:t>    n = len(clean_stuffed)</a:t>
            </a:r>
            <a:br/>
            <a:br/>
            <a:r>
              <a:t>    while idx &lt; n:</a:t>
            </a:r>
            <a:br/>
            <a:r>
              <a:t>        bit = clean_stuffed[idx]</a:t>
            </a:r>
            <a:br/>
            <a:r>
              <a:t>        destuffed.append(bit)</a:t>
            </a:r>
            <a:br/>
            <a:r>
              <a:t>        if bit == '1':</a:t>
            </a:r>
            <a:br/>
            <a:r>
              <a:t>            consecutive_ones += 1</a:t>
            </a:r>
            <a:br/>
            <a:r>
              <a:t>            if consecutive_ones == 5:</a:t>
            </a:r>
            <a:br/>
            <a:r>
              <a:t>                if idx + 1 &lt; n and clean_stuffed[idx + 1] == '0':</a:t>
            </a:r>
            <a:br/>
            <a:r>
              <a:t>                    idx += 1  # Skip inserted stuffed zero bit</a:t>
            </a:r>
            <a:br/>
            <a:r>
              <a:t>                    consecutive_ones = 0</a:t>
            </a:r>
            <a:br/>
            <a:r>
              <a:t>                else:</a:t>
            </a:r>
            <a:br/>
            <a:r>
              <a:t>                    raise ValueError('Malformed stuffed payload: Missing inserted 0 after 5 ones!')</a:t>
            </a:r>
            <a:br/>
            <a:r>
              <a:t>        else: consecutive_ones = 0</a:t>
            </a:r>
            <a:br/>
            <a:r>
              <a:t>        idx += 1</a:t>
            </a:r>
            <a:br/>
            <a:r>
              <a:t>    return ''.join(destuffed)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284C7"/>
                </a:solidFill>
              </a:defRPr>
            </a:pPr>
            <a:r>
              <a:t>NETVISTA 3D — ITUC201</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0F172A"/>
                </a:solidFill>
              </a:defRPr>
            </a:pPr>
            <a:r>
              <a:t>7. HDLC-Style Frame Structure &amp; Visualization</a:t>
            </a:r>
          </a:p>
        </p:txBody>
      </p:sp>
      <p:sp>
        <p:nvSpPr>
          <p:cNvPr id="4" name="Rounded Rectangle 3"/>
          <p:cNvSpPr/>
          <p:nvPr/>
        </p:nvSpPr>
        <p:spPr>
          <a:xfrm>
            <a:off x="731520" y="1371600"/>
            <a:ext cx="10698480" cy="475488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lgorithm_flowchart.png"/>
          <p:cNvPicPr>
            <a:picLocks noChangeAspect="1"/>
          </p:cNvPicPr>
          <p:nvPr/>
        </p:nvPicPr>
        <p:blipFill>
          <a:blip r:embed="rId2"/>
          <a:stretch>
            <a:fillRect/>
          </a:stretch>
        </p:blipFill>
        <p:spPr>
          <a:xfrm>
            <a:off x="1097280" y="1554480"/>
            <a:ext cx="9966960" cy="494160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284C7"/>
                </a:solidFill>
              </a:defRPr>
            </a:pPr>
            <a:r>
              <a:t>NETVISTA 3D — ITUC201</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0F172A"/>
                </a:solidFill>
              </a:defRPr>
            </a:pPr>
            <a:r>
              <a:t>8. Python Project Modular Architecture</a:t>
            </a:r>
          </a:p>
        </p:txBody>
      </p:sp>
      <p:sp>
        <p:nvSpPr>
          <p:cNvPr id="4" name="Rounded Rectangle 3"/>
          <p:cNvSpPr/>
          <p:nvPr/>
        </p:nvSpPr>
        <p:spPr>
          <a:xfrm>
            <a:off x="731520" y="1371600"/>
            <a:ext cx="10698480" cy="4754880"/>
          </a:xfrm>
          <a:prstGeom prst="roundRect">
            <a:avLst/>
          </a:prstGeom>
          <a:solidFill>
            <a:srgbClr val="1E293B"/>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10149840" cy="4389120"/>
          </a:xfrm>
          <a:prstGeom prst="rect">
            <a:avLst/>
          </a:prstGeom>
          <a:noFill/>
        </p:spPr>
        <p:txBody>
          <a:bodyPr wrap="square">
            <a:spAutoFit/>
          </a:bodyPr>
          <a:lstStyle/>
          <a:p>
            <a:pPr>
              <a:spcAft>
                <a:spcPts val="1200"/>
              </a:spcAft>
              <a:defRPr sz="1600" b="1">
                <a:solidFill>
                  <a:srgbClr val="38BDF8"/>
                </a:solidFill>
              </a:defRPr>
            </a:pPr>
            <a:r>
              <a:t>Modular Component Breakdown</a:t>
            </a:r>
          </a:p>
          <a:p>
            <a:pPr>
              <a:defRPr sz="1200" b="1">
                <a:solidFill>
                  <a:srgbClr val="F59E0B"/>
                </a:solidFill>
              </a:defRPr>
            </a:pPr>
            <a:r>
              <a:t>• src/hdlc_core.py: </a:t>
            </a:r>
          </a:p>
          <a:p>
            <a:pPr>
              <a:spcAft>
                <a:spcPts val="600"/>
              </a:spcAft>
              <a:defRPr sz="1100">
                <a:solidFill>
                  <a:srgbClr val="FFFFFF"/>
                </a:solidFill>
              </a:defRPr>
            </a:pPr>
            <a:r>
              <a:t>  Pure functional engine implementing bit stuffing, destuffing, framing, and step-by-step trace logger.</a:t>
            </a:r>
          </a:p>
          <a:p>
            <a:pPr>
              <a:defRPr sz="1200" b="1">
                <a:solidFill>
                  <a:srgbClr val="F59E0B"/>
                </a:solidFill>
              </a:defRPr>
            </a:pPr>
            <a:r>
              <a:t>• src/hdlc_cli.py: </a:t>
            </a:r>
          </a:p>
          <a:p>
            <a:pPr>
              <a:spcAft>
                <a:spcPts val="600"/>
              </a:spcAft>
              <a:defRPr sz="1100">
                <a:solidFill>
                  <a:srgbClr val="FFFFFF"/>
                </a:solidFill>
              </a:defRPr>
            </a:pPr>
            <a:r>
              <a:t>  Command-line demonstrator supporting interactive streams, preset test cases, and audit logging.</a:t>
            </a:r>
          </a:p>
          <a:p>
            <a:pPr>
              <a:defRPr sz="1200" b="1">
                <a:solidFill>
                  <a:srgbClr val="F59E0B"/>
                </a:solidFill>
              </a:defRPr>
            </a:pPr>
            <a:r>
              <a:t>• src/hdlc_gui.py: </a:t>
            </a:r>
          </a:p>
          <a:p>
            <a:pPr>
              <a:spcAft>
                <a:spcPts val="600"/>
              </a:spcAft>
              <a:defRPr sz="1100">
                <a:solidFill>
                  <a:srgbClr val="FFFFFF"/>
                </a:solidFill>
              </a:defRPr>
            </a:pPr>
            <a:r>
              <a:t>  Interactive Tkinter graphical dashboard featuring live pipeline visualization and trace treeview.</a:t>
            </a:r>
          </a:p>
          <a:p>
            <a:pPr>
              <a:defRPr sz="1200" b="1">
                <a:solidFill>
                  <a:srgbClr val="F59E0B"/>
                </a:solidFill>
              </a:defRPr>
            </a:pPr>
            <a:r>
              <a:t>• src/experiment_runner.py: </a:t>
            </a:r>
          </a:p>
          <a:p>
            <a:pPr>
              <a:spcAft>
                <a:spcPts val="600"/>
              </a:spcAft>
              <a:defRPr sz="1100">
                <a:solidFill>
                  <a:srgbClr val="FFFFFF"/>
                </a:solidFill>
              </a:defRPr>
            </a:pPr>
            <a:r>
              <a:t>  Automated benchmark runner evaluating mandatory cases and synthetic random patterns.</a:t>
            </a:r>
          </a:p>
          <a:p>
            <a:pPr>
              <a:defRPr sz="1200" b="1">
                <a:solidFill>
                  <a:srgbClr val="F59E0B"/>
                </a:solidFill>
              </a:defRPr>
            </a:pPr>
            <a:r>
              <a:t>• tests/test_hdlc.py: </a:t>
            </a:r>
          </a:p>
          <a:p>
            <a:pPr>
              <a:spcAft>
                <a:spcPts val="600"/>
              </a:spcAft>
              <a:defRPr sz="1100">
                <a:solidFill>
                  <a:srgbClr val="FFFFFF"/>
                </a:solidFill>
              </a:defRPr>
            </a:pPr>
            <a:r>
              <a:t>  Comprehensive unittest suite covering edge cases, malformed inputs, and 50 randomized roundtrips.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284C7"/>
                </a:solidFill>
              </a:defRPr>
            </a:pPr>
            <a:r>
              <a:t>NETVISTA 3D — ITUC201</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0F172A"/>
                </a:solidFill>
              </a:defRPr>
            </a:pPr>
            <a:r>
              <a:t>9. Interactive Tkinter GUI Dashboard</a:t>
            </a:r>
          </a:p>
        </p:txBody>
      </p:sp>
      <p:sp>
        <p:nvSpPr>
          <p:cNvPr id="4" name="Rounded Rectangle 3"/>
          <p:cNvSpPr/>
          <p:nvPr/>
        </p:nvSpPr>
        <p:spPr>
          <a:xfrm>
            <a:off x="731520" y="1371600"/>
            <a:ext cx="10698480" cy="475488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ui_dashboard_demo.png"/>
          <p:cNvPicPr>
            <a:picLocks noChangeAspect="1"/>
          </p:cNvPicPr>
          <p:nvPr/>
        </p:nvPicPr>
        <p:blipFill>
          <a:blip r:embed="rId2"/>
          <a:stretch>
            <a:fillRect/>
          </a:stretch>
        </p:blipFill>
        <p:spPr>
          <a:xfrm>
            <a:off x="1371600" y="1554480"/>
            <a:ext cx="9418320" cy="61643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284C7"/>
                </a:solidFill>
              </a:defRPr>
            </a:pPr>
            <a:r>
              <a:t>NETVISTA 3D — ITUC201</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0F172A"/>
                </a:solidFill>
              </a:defRPr>
            </a:pPr>
            <a:r>
              <a:t>10. Mandatory Test Cases &amp; Empirical Observations</a:t>
            </a:r>
          </a:p>
        </p:txBody>
      </p:sp>
      <p:sp>
        <p:nvSpPr>
          <p:cNvPr id="4" name="Rounded Rectangle 3"/>
          <p:cNvSpPr/>
          <p:nvPr/>
        </p:nvSpPr>
        <p:spPr>
          <a:xfrm>
            <a:off x="731520" y="1371600"/>
            <a:ext cx="10698480" cy="4754880"/>
          </a:xfrm>
          <a:prstGeom prst="roundRect">
            <a:avLst/>
          </a:prstGeom>
          <a:solidFill>
            <a:srgbClr val="1E293B"/>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914400" y="1645920"/>
          <a:ext cx="10332720" cy="4114800"/>
        </p:xfrm>
        <a:graphic>
          <a:graphicData uri="http://schemas.openxmlformats.org/drawingml/2006/table">
            <a:tbl>
              <a:tblPr firstRow="1" bandRow="1">
                <a:tableStyleId>{5C22544A-7EE6-4342-B048-85BDC9FD1C3A}</a:tableStyleId>
              </a:tblPr>
              <a:tblGrid>
                <a:gridCol w="1722120"/>
                <a:gridCol w="1722120"/>
                <a:gridCol w="1722120"/>
                <a:gridCol w="1722120"/>
                <a:gridCol w="1722120"/>
                <a:gridCol w="1722120"/>
              </a:tblGrid>
              <a:tr h="685800">
                <a:tc>
                  <a:txBody>
                    <a:bodyPr/>
                    <a:lstStyle/>
                    <a:p>
                      <a:pPr algn="ctr">
                        <a:defRPr sz="1100" b="1">
                          <a:solidFill>
                            <a:srgbClr val="38BDF8"/>
                          </a:solidFill>
                        </a:defRPr>
                      </a:pPr>
                      <a:r>
                        <a:t>Case ID</a:t>
                      </a:r>
                    </a:p>
                  </a:txBody>
                  <a:tcPr>
                    <a:solidFill>
                      <a:srgbClr val="0F172A"/>
                    </a:solidFill>
                  </a:tcPr>
                </a:tc>
                <a:tc>
                  <a:txBody>
                    <a:bodyPr/>
                    <a:lstStyle/>
                    <a:p>
                      <a:pPr algn="ctr">
                        <a:defRPr sz="1100" b="1">
                          <a:solidFill>
                            <a:srgbClr val="38BDF8"/>
                          </a:solidFill>
                        </a:defRPr>
                      </a:pPr>
                      <a:r>
                        <a:t>Case Description</a:t>
                      </a:r>
                    </a:p>
                  </a:txBody>
                  <a:tcPr>
                    <a:solidFill>
                      <a:srgbClr val="0F172A"/>
                    </a:solidFill>
                  </a:tcPr>
                </a:tc>
                <a:tc>
                  <a:txBody>
                    <a:bodyPr/>
                    <a:lstStyle/>
                    <a:p>
                      <a:pPr algn="ctr">
                        <a:defRPr sz="1100" b="1">
                          <a:solidFill>
                            <a:srgbClr val="38BDF8"/>
                          </a:solidFill>
                        </a:defRPr>
                      </a:pPr>
                      <a:r>
                        <a:t>Original Payload</a:t>
                      </a:r>
                    </a:p>
                  </a:txBody>
                  <a:tcPr>
                    <a:solidFill>
                      <a:srgbClr val="0F172A"/>
                    </a:solidFill>
                  </a:tcPr>
                </a:tc>
                <a:tc>
                  <a:txBody>
                    <a:bodyPr/>
                    <a:lstStyle/>
                    <a:p>
                      <a:pPr algn="ctr">
                        <a:defRPr sz="1100" b="1">
                          <a:solidFill>
                            <a:srgbClr val="38BDF8"/>
                          </a:solidFill>
                        </a:defRPr>
                      </a:pPr>
                      <a:r>
                        <a:t>Stuffed Payload</a:t>
                      </a:r>
                    </a:p>
                  </a:txBody>
                  <a:tcPr>
                    <a:solidFill>
                      <a:srgbClr val="0F172A"/>
                    </a:solidFill>
                  </a:tcPr>
                </a:tc>
                <a:tc>
                  <a:txBody>
                    <a:bodyPr/>
                    <a:lstStyle/>
                    <a:p>
                      <a:pPr algn="ctr">
                        <a:defRPr sz="1100" b="1">
                          <a:solidFill>
                            <a:srgbClr val="38BDF8"/>
                          </a:solidFill>
                        </a:defRPr>
                      </a:pPr>
                      <a:r>
                        <a:t>Overhead (%)</a:t>
                      </a:r>
                    </a:p>
                  </a:txBody>
                  <a:tcPr>
                    <a:solidFill>
                      <a:srgbClr val="0F172A"/>
                    </a:solidFill>
                  </a:tcPr>
                </a:tc>
                <a:tc>
                  <a:txBody>
                    <a:bodyPr/>
                    <a:lstStyle/>
                    <a:p>
                      <a:pPr algn="ctr">
                        <a:defRPr sz="1100" b="1">
                          <a:solidFill>
                            <a:srgbClr val="38BDF8"/>
                          </a:solidFill>
                        </a:defRPr>
                      </a:pPr>
                      <a:r>
                        <a:t>Status</a:t>
                      </a:r>
                    </a:p>
                  </a:txBody>
                  <a:tcPr>
                    <a:solidFill>
                      <a:srgbClr val="0F172A"/>
                    </a:solidFill>
                  </a:tcPr>
                </a:tc>
              </a:tr>
              <a:tr h="685800">
                <a:tc>
                  <a:txBody>
                    <a:bodyPr/>
                    <a:lstStyle/>
                    <a:p>
                      <a:pPr algn="ctr">
                        <a:defRPr sz="1000">
                          <a:solidFill>
                            <a:srgbClr val="FFFFFF"/>
                          </a:solidFill>
                        </a:defRPr>
                      </a:pPr>
                      <a:r>
                        <a:t>Case 1</a:t>
                      </a:r>
                    </a:p>
                  </a:txBody>
                  <a:tcPr>
                    <a:solidFill>
                      <a:srgbClr val="1E293B"/>
                    </a:solidFill>
                  </a:tcPr>
                </a:tc>
                <a:tc>
                  <a:txBody>
                    <a:bodyPr/>
                    <a:lstStyle/>
                    <a:p>
                      <a:pPr>
                        <a:defRPr sz="1000">
                          <a:solidFill>
                            <a:srgbClr val="FFFFFF"/>
                          </a:solidFill>
                        </a:defRPr>
                      </a:pPr>
                      <a:r>
                        <a:t>Alternating Bits</a:t>
                      </a:r>
                    </a:p>
                  </a:txBody>
                  <a:tcPr>
                    <a:solidFill>
                      <a:srgbClr val="1E293B"/>
                    </a:solidFill>
                  </a:tcPr>
                </a:tc>
                <a:tc>
                  <a:txBody>
                    <a:bodyPr/>
                    <a:lstStyle/>
                    <a:p>
                      <a:pPr>
                        <a:defRPr sz="1000">
                          <a:solidFill>
                            <a:srgbClr val="FFFFFF"/>
                          </a:solidFill>
                        </a:defRPr>
                      </a:pPr>
                      <a:r>
                        <a:t>101010</a:t>
                      </a:r>
                    </a:p>
                  </a:txBody>
                  <a:tcPr>
                    <a:solidFill>
                      <a:srgbClr val="1E293B"/>
                    </a:solidFill>
                  </a:tcPr>
                </a:tc>
                <a:tc>
                  <a:txBody>
                    <a:bodyPr/>
                    <a:lstStyle/>
                    <a:p>
                      <a:pPr>
                        <a:defRPr sz="1000">
                          <a:solidFill>
                            <a:srgbClr val="FFFFFF"/>
                          </a:solidFill>
                        </a:defRPr>
                      </a:pPr>
                      <a:r>
                        <a:t>101010</a:t>
                      </a:r>
                    </a:p>
                  </a:txBody>
                  <a:tcPr>
                    <a:solidFill>
                      <a:srgbClr val="1E293B"/>
                    </a:solidFill>
                  </a:tcPr>
                </a:tc>
                <a:tc>
                  <a:txBody>
                    <a:bodyPr/>
                    <a:lstStyle/>
                    <a:p>
                      <a:pPr algn="ctr">
                        <a:defRPr sz="1000">
                          <a:solidFill>
                            <a:srgbClr val="FFFFFF"/>
                          </a:solidFill>
                        </a:defRPr>
                      </a:pPr>
                      <a:r>
                        <a:t>0.00%</a:t>
                      </a:r>
                    </a:p>
                  </a:txBody>
                  <a:tcPr>
                    <a:solidFill>
                      <a:srgbClr val="1E293B"/>
                    </a:solidFill>
                  </a:tcPr>
                </a:tc>
                <a:tc>
                  <a:txBody>
                    <a:bodyPr/>
                    <a:lstStyle/>
                    <a:p>
                      <a:pPr algn="ctr">
                        <a:defRPr sz="1000">
                          <a:solidFill>
                            <a:srgbClr val="FFFFFF"/>
                          </a:solidFill>
                        </a:defRPr>
                      </a:pPr>
                      <a:r>
                        <a:t>PASS</a:t>
                      </a:r>
                    </a:p>
                  </a:txBody>
                  <a:tcPr>
                    <a:solidFill>
                      <a:srgbClr val="1E293B"/>
                    </a:solidFill>
                  </a:tcPr>
                </a:tc>
              </a:tr>
              <a:tr h="685800">
                <a:tc>
                  <a:txBody>
                    <a:bodyPr/>
                    <a:lstStyle/>
                    <a:p>
                      <a:pPr algn="ctr">
                        <a:defRPr sz="1000">
                          <a:solidFill>
                            <a:srgbClr val="FFFFFF"/>
                          </a:solidFill>
                        </a:defRPr>
                      </a:pPr>
                      <a:r>
                        <a:t>Case 2</a:t>
                      </a:r>
                    </a:p>
                  </a:txBody>
                  <a:tcPr>
                    <a:solidFill>
                      <a:srgbClr val="1E293B"/>
                    </a:solidFill>
                  </a:tcPr>
                </a:tc>
                <a:tc>
                  <a:txBody>
                    <a:bodyPr/>
                    <a:lstStyle/>
                    <a:p>
                      <a:pPr>
                        <a:defRPr sz="1000">
                          <a:solidFill>
                            <a:srgbClr val="FFFFFF"/>
                          </a:solidFill>
                        </a:defRPr>
                      </a:pPr>
                      <a:r>
                        <a:t>Five 1s</a:t>
                      </a:r>
                    </a:p>
                  </a:txBody>
                  <a:tcPr>
                    <a:solidFill>
                      <a:srgbClr val="1E293B"/>
                    </a:solidFill>
                  </a:tcPr>
                </a:tc>
                <a:tc>
                  <a:txBody>
                    <a:bodyPr/>
                    <a:lstStyle/>
                    <a:p>
                      <a:pPr>
                        <a:defRPr sz="1000">
                          <a:solidFill>
                            <a:srgbClr val="FFFFFF"/>
                          </a:solidFill>
                        </a:defRPr>
                      </a:pPr>
                      <a:r>
                        <a:t>11111</a:t>
                      </a:r>
                    </a:p>
                  </a:txBody>
                  <a:tcPr>
                    <a:solidFill>
                      <a:srgbClr val="1E293B"/>
                    </a:solidFill>
                  </a:tcPr>
                </a:tc>
                <a:tc>
                  <a:txBody>
                    <a:bodyPr/>
                    <a:lstStyle/>
                    <a:p>
                      <a:pPr>
                        <a:defRPr sz="1000">
                          <a:solidFill>
                            <a:srgbClr val="FFFFFF"/>
                          </a:solidFill>
                        </a:defRPr>
                      </a:pPr>
                      <a:r>
                        <a:t>111110</a:t>
                      </a:r>
                    </a:p>
                  </a:txBody>
                  <a:tcPr>
                    <a:solidFill>
                      <a:srgbClr val="1E293B"/>
                    </a:solidFill>
                  </a:tcPr>
                </a:tc>
                <a:tc>
                  <a:txBody>
                    <a:bodyPr/>
                    <a:lstStyle/>
                    <a:p>
                      <a:pPr algn="ctr">
                        <a:defRPr sz="1000">
                          <a:solidFill>
                            <a:srgbClr val="FFFFFF"/>
                          </a:solidFill>
                        </a:defRPr>
                      </a:pPr>
                      <a:r>
                        <a:t>20.00%</a:t>
                      </a:r>
                    </a:p>
                  </a:txBody>
                  <a:tcPr>
                    <a:solidFill>
                      <a:srgbClr val="1E293B"/>
                    </a:solidFill>
                  </a:tcPr>
                </a:tc>
                <a:tc>
                  <a:txBody>
                    <a:bodyPr/>
                    <a:lstStyle/>
                    <a:p>
                      <a:pPr algn="ctr">
                        <a:defRPr sz="1000">
                          <a:solidFill>
                            <a:srgbClr val="FFFFFF"/>
                          </a:solidFill>
                        </a:defRPr>
                      </a:pPr>
                      <a:r>
                        <a:t>PASS</a:t>
                      </a:r>
                    </a:p>
                  </a:txBody>
                  <a:tcPr>
                    <a:solidFill>
                      <a:srgbClr val="1E293B"/>
                    </a:solidFill>
                  </a:tcPr>
                </a:tc>
              </a:tr>
              <a:tr h="685800">
                <a:tc>
                  <a:txBody>
                    <a:bodyPr/>
                    <a:lstStyle/>
                    <a:p>
                      <a:pPr algn="ctr">
                        <a:defRPr sz="1000">
                          <a:solidFill>
                            <a:srgbClr val="FFFFFF"/>
                          </a:solidFill>
                        </a:defRPr>
                      </a:pPr>
                      <a:r>
                        <a:t>Case 3</a:t>
                      </a:r>
                    </a:p>
                  </a:txBody>
                  <a:tcPr>
                    <a:solidFill>
                      <a:srgbClr val="1E293B"/>
                    </a:solidFill>
                  </a:tcPr>
                </a:tc>
                <a:tc>
                  <a:txBody>
                    <a:bodyPr/>
                    <a:lstStyle/>
                    <a:p>
                      <a:pPr>
                        <a:defRPr sz="1000">
                          <a:solidFill>
                            <a:srgbClr val="FFFFFF"/>
                          </a:solidFill>
                        </a:defRPr>
                      </a:pPr>
                      <a:r>
                        <a:t>Six 1s</a:t>
                      </a:r>
                    </a:p>
                  </a:txBody>
                  <a:tcPr>
                    <a:solidFill>
                      <a:srgbClr val="1E293B"/>
                    </a:solidFill>
                  </a:tcPr>
                </a:tc>
                <a:tc>
                  <a:txBody>
                    <a:bodyPr/>
                    <a:lstStyle/>
                    <a:p>
                      <a:pPr>
                        <a:defRPr sz="1000">
                          <a:solidFill>
                            <a:srgbClr val="FFFFFF"/>
                          </a:solidFill>
                        </a:defRPr>
                      </a:pPr>
                      <a:r>
                        <a:t>111111</a:t>
                      </a:r>
                    </a:p>
                  </a:txBody>
                  <a:tcPr>
                    <a:solidFill>
                      <a:srgbClr val="1E293B"/>
                    </a:solidFill>
                  </a:tcPr>
                </a:tc>
                <a:tc>
                  <a:txBody>
                    <a:bodyPr/>
                    <a:lstStyle/>
                    <a:p>
                      <a:pPr>
                        <a:defRPr sz="1000">
                          <a:solidFill>
                            <a:srgbClr val="FFFFFF"/>
                          </a:solidFill>
                        </a:defRPr>
                      </a:pPr>
                      <a:r>
                        <a:t>1111101</a:t>
                      </a:r>
                    </a:p>
                  </a:txBody>
                  <a:tcPr>
                    <a:solidFill>
                      <a:srgbClr val="1E293B"/>
                    </a:solidFill>
                  </a:tcPr>
                </a:tc>
                <a:tc>
                  <a:txBody>
                    <a:bodyPr/>
                    <a:lstStyle/>
                    <a:p>
                      <a:pPr algn="ctr">
                        <a:defRPr sz="1000">
                          <a:solidFill>
                            <a:srgbClr val="FFFFFF"/>
                          </a:solidFill>
                        </a:defRPr>
                      </a:pPr>
                      <a:r>
                        <a:t>16.67%</a:t>
                      </a:r>
                    </a:p>
                  </a:txBody>
                  <a:tcPr>
                    <a:solidFill>
                      <a:srgbClr val="1E293B"/>
                    </a:solidFill>
                  </a:tcPr>
                </a:tc>
                <a:tc>
                  <a:txBody>
                    <a:bodyPr/>
                    <a:lstStyle/>
                    <a:p>
                      <a:pPr algn="ctr">
                        <a:defRPr sz="1000">
                          <a:solidFill>
                            <a:srgbClr val="FFFFFF"/>
                          </a:solidFill>
                        </a:defRPr>
                      </a:pPr>
                      <a:r>
                        <a:t>PASS</a:t>
                      </a:r>
                    </a:p>
                  </a:txBody>
                  <a:tcPr>
                    <a:solidFill>
                      <a:srgbClr val="1E293B"/>
                    </a:solidFill>
                  </a:tcPr>
                </a:tc>
              </a:tr>
              <a:tr h="685800">
                <a:tc>
                  <a:txBody>
                    <a:bodyPr/>
                    <a:lstStyle/>
                    <a:p>
                      <a:pPr algn="ctr">
                        <a:defRPr sz="1000">
                          <a:solidFill>
                            <a:srgbClr val="FFFFFF"/>
                          </a:solidFill>
                        </a:defRPr>
                      </a:pPr>
                      <a:r>
                        <a:t>Case 4</a:t>
                      </a:r>
                    </a:p>
                  </a:txBody>
                  <a:tcPr>
                    <a:solidFill>
                      <a:srgbClr val="1E293B"/>
                    </a:solidFill>
                  </a:tcPr>
                </a:tc>
                <a:tc>
                  <a:txBody>
                    <a:bodyPr/>
                    <a:lstStyle/>
                    <a:p>
                      <a:pPr>
                        <a:defRPr sz="1000">
                          <a:solidFill>
                            <a:srgbClr val="FFFFFF"/>
                          </a:solidFill>
                        </a:defRPr>
                      </a:pPr>
                      <a:r>
                        <a:t>Flag in Data</a:t>
                      </a:r>
                    </a:p>
                  </a:txBody>
                  <a:tcPr>
                    <a:solidFill>
                      <a:srgbClr val="1E293B"/>
                    </a:solidFill>
                  </a:tcPr>
                </a:tc>
                <a:tc>
                  <a:txBody>
                    <a:bodyPr/>
                    <a:lstStyle/>
                    <a:p>
                      <a:pPr>
                        <a:defRPr sz="1000">
                          <a:solidFill>
                            <a:srgbClr val="FFFFFF"/>
                          </a:solidFill>
                        </a:defRPr>
                      </a:pPr>
                      <a:r>
                        <a:t>01111110</a:t>
                      </a:r>
                    </a:p>
                  </a:txBody>
                  <a:tcPr>
                    <a:solidFill>
                      <a:srgbClr val="1E293B"/>
                    </a:solidFill>
                  </a:tcPr>
                </a:tc>
                <a:tc>
                  <a:txBody>
                    <a:bodyPr/>
                    <a:lstStyle/>
                    <a:p>
                      <a:pPr>
                        <a:defRPr sz="1000">
                          <a:solidFill>
                            <a:srgbClr val="FFFFFF"/>
                          </a:solidFill>
                        </a:defRPr>
                      </a:pPr>
                      <a:r>
                        <a:t>011111010</a:t>
                      </a:r>
                    </a:p>
                  </a:txBody>
                  <a:tcPr>
                    <a:solidFill>
                      <a:srgbClr val="1E293B"/>
                    </a:solidFill>
                  </a:tcPr>
                </a:tc>
                <a:tc>
                  <a:txBody>
                    <a:bodyPr/>
                    <a:lstStyle/>
                    <a:p>
                      <a:pPr algn="ctr">
                        <a:defRPr sz="1000">
                          <a:solidFill>
                            <a:srgbClr val="FFFFFF"/>
                          </a:solidFill>
                        </a:defRPr>
                      </a:pPr>
                      <a:r>
                        <a:t>12.50%</a:t>
                      </a:r>
                    </a:p>
                  </a:txBody>
                  <a:tcPr>
                    <a:solidFill>
                      <a:srgbClr val="1E293B"/>
                    </a:solidFill>
                  </a:tcPr>
                </a:tc>
                <a:tc>
                  <a:txBody>
                    <a:bodyPr/>
                    <a:lstStyle/>
                    <a:p>
                      <a:pPr algn="ctr">
                        <a:defRPr sz="1000">
                          <a:solidFill>
                            <a:srgbClr val="FFFFFF"/>
                          </a:solidFill>
                        </a:defRPr>
                      </a:pPr>
                      <a:r>
                        <a:t>PASS</a:t>
                      </a:r>
                    </a:p>
                  </a:txBody>
                  <a:tcPr>
                    <a:solidFill>
                      <a:srgbClr val="1E293B"/>
                    </a:solidFill>
                  </a:tcPr>
                </a:tc>
              </a:tr>
              <a:tr h="685800">
                <a:tc>
                  <a:txBody>
                    <a:bodyPr/>
                    <a:lstStyle/>
                    <a:p>
                      <a:pPr algn="ctr">
                        <a:defRPr sz="1000">
                          <a:solidFill>
                            <a:srgbClr val="FFFFFF"/>
                          </a:solidFill>
                        </a:defRPr>
                      </a:pPr>
                      <a:r>
                        <a:t>Case 5</a:t>
                      </a:r>
                    </a:p>
                  </a:txBody>
                  <a:tcPr>
                    <a:solidFill>
                      <a:srgbClr val="1E293B"/>
                    </a:solidFill>
                  </a:tcPr>
                </a:tc>
                <a:tc>
                  <a:txBody>
                    <a:bodyPr/>
                    <a:lstStyle/>
                    <a:p>
                      <a:pPr>
                        <a:defRPr sz="1000">
                          <a:solidFill>
                            <a:srgbClr val="FFFFFF"/>
                          </a:solidFill>
                        </a:defRPr>
                      </a:pPr>
                      <a:r>
                        <a:t>Multiple Runs</a:t>
                      </a:r>
                    </a:p>
                  </a:txBody>
                  <a:tcPr>
                    <a:solidFill>
                      <a:srgbClr val="1E293B"/>
                    </a:solidFill>
                  </a:tcPr>
                </a:tc>
                <a:tc>
                  <a:txBody>
                    <a:bodyPr/>
                    <a:lstStyle/>
                    <a:p>
                      <a:pPr>
                        <a:defRPr sz="1000">
                          <a:solidFill>
                            <a:srgbClr val="FFFFFF"/>
                          </a:solidFill>
                        </a:defRPr>
                      </a:pPr>
                      <a:r>
                        <a:t>11111011111</a:t>
                      </a:r>
                    </a:p>
                  </a:txBody>
                  <a:tcPr>
                    <a:solidFill>
                      <a:srgbClr val="1E293B"/>
                    </a:solidFill>
                  </a:tcPr>
                </a:tc>
                <a:tc>
                  <a:txBody>
                    <a:bodyPr/>
                    <a:lstStyle/>
                    <a:p>
                      <a:pPr>
                        <a:defRPr sz="1000">
                          <a:solidFill>
                            <a:srgbClr val="FFFFFF"/>
                          </a:solidFill>
                        </a:defRPr>
                      </a:pPr>
                      <a:r>
                        <a:t>1111100111110</a:t>
                      </a:r>
                    </a:p>
                  </a:txBody>
                  <a:tcPr>
                    <a:solidFill>
                      <a:srgbClr val="1E293B"/>
                    </a:solidFill>
                  </a:tcPr>
                </a:tc>
                <a:tc>
                  <a:txBody>
                    <a:bodyPr/>
                    <a:lstStyle/>
                    <a:p>
                      <a:pPr algn="ctr">
                        <a:defRPr sz="1000">
                          <a:solidFill>
                            <a:srgbClr val="FFFFFF"/>
                          </a:solidFill>
                        </a:defRPr>
                      </a:pPr>
                      <a:r>
                        <a:t>18.18%</a:t>
                      </a:r>
                    </a:p>
                  </a:txBody>
                  <a:tcPr>
                    <a:solidFill>
                      <a:srgbClr val="1E293B"/>
                    </a:solidFill>
                  </a:tcPr>
                </a:tc>
                <a:tc>
                  <a:txBody>
                    <a:bodyPr/>
                    <a:lstStyle/>
                    <a:p>
                      <a:pPr algn="ctr">
                        <a:defRPr sz="1000">
                          <a:solidFill>
                            <a:srgbClr val="FFFFFF"/>
                          </a:solidFill>
                        </a:defRPr>
                      </a:pPr>
                      <a:r>
                        <a:t>PASS</a:t>
                      </a:r>
                    </a:p>
                  </a:txBody>
                  <a:tcPr>
                    <a:solidFill>
                      <a:srgbClr val="1E293B"/>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284C7"/>
                </a:solidFill>
              </a:defRPr>
            </a:pPr>
            <a:r>
              <a:t>NETVISTA 3D — ITUC201</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0F172A"/>
                </a:solidFill>
              </a:defRPr>
            </a:pPr>
            <a:r>
              <a:t>11. Quantitative Bit Stuffing Overhead Analysis</a:t>
            </a:r>
          </a:p>
        </p:txBody>
      </p:sp>
      <p:sp>
        <p:nvSpPr>
          <p:cNvPr id="4" name="Rounded Rectangle 3"/>
          <p:cNvSpPr/>
          <p:nvPr/>
        </p:nvSpPr>
        <p:spPr>
          <a:xfrm>
            <a:off x="731520" y="1371600"/>
            <a:ext cx="10698480" cy="475488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verhead_chart.png"/>
          <p:cNvPicPr>
            <a:picLocks noChangeAspect="1"/>
          </p:cNvPicPr>
          <p:nvPr/>
        </p:nvPicPr>
        <p:blipFill>
          <a:blip r:embed="rId2"/>
          <a:stretch>
            <a:fillRect/>
          </a:stretch>
        </p:blipFill>
        <p:spPr>
          <a:xfrm>
            <a:off x="1188720" y="1554480"/>
            <a:ext cx="9784080" cy="489204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284C7"/>
                </a:solidFill>
              </a:defRPr>
            </a:pPr>
            <a:r>
              <a:t>NETVISTA 3D — ITUC201</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0F172A"/>
                </a:solidFill>
              </a:defRPr>
            </a:pPr>
            <a:r>
              <a:t>12. Worked University Examination Question</a:t>
            </a:r>
          </a:p>
        </p:txBody>
      </p:sp>
      <p:sp>
        <p:nvSpPr>
          <p:cNvPr id="4" name="Rounded Rectangle 3"/>
          <p:cNvSpPr/>
          <p:nvPr/>
        </p:nvSpPr>
        <p:spPr>
          <a:xfrm>
            <a:off x="731520" y="1371600"/>
            <a:ext cx="10698480" cy="47548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10149840" cy="4389120"/>
          </a:xfrm>
          <a:prstGeom prst="rect">
            <a:avLst/>
          </a:prstGeom>
          <a:noFill/>
        </p:spPr>
        <p:txBody>
          <a:bodyPr wrap="square">
            <a:spAutoFit/>
          </a:bodyPr>
          <a:lstStyle/>
          <a:p>
            <a:pPr>
              <a:spcAft>
                <a:spcPts val="800"/>
              </a:spcAft>
              <a:defRPr sz="1500" b="1">
                <a:solidFill>
                  <a:srgbClr val="F59E0B"/>
                </a:solidFill>
              </a:defRPr>
            </a:pPr>
            <a:r>
              <a:t>University Exam Question (ITUC201 End-Sem Style)</a:t>
            </a:r>
          </a:p>
          <a:p>
            <a:pPr>
              <a:spcAft>
                <a:spcPts val="1000"/>
              </a:spcAft>
              <a:defRPr sz="1100">
                <a:solidFill>
                  <a:srgbClr val="FFFFFF"/>
                </a:solidFill>
              </a:defRPr>
            </a:pPr>
            <a:r>
              <a:t>QUESTION: Given input bit stream '011111101111101', show sender bit stuffing, construct HDLC frame, show receiver destuffing, and calculate overhead percentage.</a:t>
            </a:r>
          </a:p>
          <a:p>
            <a:pPr>
              <a:spcAft>
                <a:spcPts val="600"/>
              </a:spcAft>
              <a:defRPr sz="1300" b="1">
                <a:solidFill>
                  <a:srgbClr val="38BDF8"/>
                </a:solidFill>
              </a:defRPr>
            </a:pPr>
            <a:r>
              <a:t>STEP-BY-STEP SOLUTION:</a:t>
            </a:r>
          </a:p>
          <a:p>
            <a:pPr>
              <a:defRPr sz="1050">
                <a:solidFill>
                  <a:srgbClr val="FFFFFF"/>
                </a:solidFill>
              </a:defRPr>
            </a:pPr>
            <a:r>
              <a:t>1. Original Payload: 011111101111101 (Length = 15 bits)</a:t>
            </a:r>
          </a:p>
          <a:p>
            <a:pPr>
              <a:defRPr sz="1050">
                <a:solidFill>
                  <a:srgbClr val="FFFFFF"/>
                </a:solidFill>
              </a:defRPr>
            </a:pPr>
            <a:r>
              <a:t>2. Stuffing Pass 1: '011111' ➔ Stuff '0' ➔ '01111101'</a:t>
            </a:r>
          </a:p>
          <a:p>
            <a:pPr>
              <a:defRPr sz="1050">
                <a:solidFill>
                  <a:srgbClr val="FFFFFF"/>
                </a:solidFill>
              </a:defRPr>
            </a:pPr>
            <a:r>
              <a:t>3. Stuffing Pass 2: Next '11111' ➔ Stuff '0' ➔ '01111101011111001'</a:t>
            </a:r>
          </a:p>
          <a:p>
            <a:pPr>
              <a:defRPr sz="1050">
                <a:solidFill>
                  <a:srgbClr val="FFFFFF"/>
                </a:solidFill>
              </a:defRPr>
            </a:pPr>
            <a:r>
              <a:t>4. Stuffed Payload: 01111101011111001 (Length = 17 bits, 2 zeros inserted)</a:t>
            </a:r>
          </a:p>
          <a:p>
            <a:pPr>
              <a:defRPr sz="1050">
                <a:solidFill>
                  <a:srgbClr val="FFFFFF"/>
                </a:solidFill>
              </a:defRPr>
            </a:pPr>
            <a:r>
              <a:t>5. Transmitted Frame: 01111110 | 01111101011111001 | 01111110 (Total = 33 bits)</a:t>
            </a:r>
          </a:p>
          <a:p>
            <a:pPr>
              <a:defRPr sz="1050">
                <a:solidFill>
                  <a:srgbClr val="FFFFFF"/>
                </a:solidFill>
              </a:defRPr>
            </a:pPr>
            <a:r>
              <a:t>6. Receiver Destuffing: Removes zeros after 5 ones ➔ Restores '011111101111101'</a:t>
            </a:r>
          </a:p>
          <a:p>
            <a:pPr>
              <a:defRPr sz="1050">
                <a:solidFill>
                  <a:srgbClr val="FFFFFF"/>
                </a:solidFill>
              </a:defRPr>
            </a:pPr>
            <a:r>
              <a:t>7. Stuffing Overhead: (2 / 15) * 100% = 13.33%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284C7"/>
                </a:solidFill>
              </a:defRPr>
            </a:pPr>
            <a:r>
              <a:t>NETVISTA 3D — ITUC201</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0F172A"/>
                </a:solidFill>
              </a:defRPr>
            </a:pPr>
            <a:r>
              <a:t>13. Limitations &amp; Learning Conclusions</a:t>
            </a:r>
          </a:p>
        </p:txBody>
      </p:sp>
      <p:sp>
        <p:nvSpPr>
          <p:cNvPr id="4" name="Rounded Rectangle 3"/>
          <p:cNvSpPr/>
          <p:nvPr/>
        </p:nvSpPr>
        <p:spPr>
          <a:xfrm>
            <a:off x="731520" y="1371600"/>
            <a:ext cx="5120640" cy="4754880"/>
          </a:xfrm>
          <a:prstGeom prst="roundRect">
            <a:avLst/>
          </a:prstGeom>
          <a:solidFill>
            <a:srgbClr val="1E293B"/>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389120"/>
          </a:xfrm>
          <a:prstGeom prst="rect">
            <a:avLst/>
          </a:prstGeom>
          <a:noFill/>
        </p:spPr>
        <p:txBody>
          <a:bodyPr wrap="square">
            <a:spAutoFit/>
          </a:bodyPr>
          <a:lstStyle/>
          <a:p>
            <a:pPr>
              <a:spcAft>
                <a:spcPts val="1000"/>
              </a:spcAft>
              <a:defRPr sz="1500" b="1">
                <a:solidFill>
                  <a:srgbClr val="38BDF8"/>
                </a:solidFill>
              </a:defRPr>
            </a:pPr>
            <a:r>
              <a:t>Scope &amp; Implementation Boundaries</a:t>
            </a:r>
          </a:p>
          <a:p>
            <a:pPr>
              <a:spcAft>
                <a:spcPts val="800"/>
              </a:spcAft>
              <a:defRPr sz="1100">
                <a:solidFill>
                  <a:srgbClr val="FFFFFF"/>
                </a:solidFill>
              </a:defRPr>
            </a:pPr>
            <a:r>
              <a:t>• Educational HDLC Frame: Implements framing flags and payload stuffing; full HDLC production headers (Address, Control, CRC-16 FCS) omitted by design.</a:t>
            </a:r>
          </a:p>
          <a:p>
            <a:pPr>
              <a:spcAft>
                <a:spcPts val="800"/>
              </a:spcAft>
              <a:defRPr sz="1100">
                <a:solidFill>
                  <a:srgbClr val="FFFFFF"/>
                </a:solidFill>
              </a:defRPr>
            </a:pPr>
            <a:r>
              <a:t>• Error Detection Scope: Bit destuffing restores stuffed payload but does not replace bit-error detection (FCS/CRC).</a:t>
            </a:r>
          </a:p>
          <a:p>
            <a:pPr>
              <a:spcAft>
                <a:spcPts val="800"/>
              </a:spcAft>
              <a:defRPr sz="1100">
                <a:solidFill>
                  <a:srgbClr val="FFFFFF"/>
                </a:solidFill>
              </a:defRPr>
            </a:pPr>
            <a:r>
              <a:t>• Overhead Dependency: Overhead varies dynamically between 0% (low 1s density) and 20% (continuous 1s).</a:t>
            </a:r>
          </a:p>
        </p:txBody>
      </p:sp>
      <p:sp>
        <p:nvSpPr>
          <p:cNvPr id="6" name="Rounded Rectangle 5"/>
          <p:cNvSpPr/>
          <p:nvPr/>
        </p:nvSpPr>
        <p:spPr>
          <a:xfrm>
            <a:off x="6217920" y="1371600"/>
            <a:ext cx="5212080" cy="475488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389120"/>
          </a:xfrm>
          <a:prstGeom prst="rect">
            <a:avLst/>
          </a:prstGeom>
          <a:noFill/>
        </p:spPr>
        <p:txBody>
          <a:bodyPr wrap="square">
            <a:spAutoFit/>
          </a:bodyPr>
          <a:lstStyle/>
          <a:p>
            <a:pPr>
              <a:spcAft>
                <a:spcPts val="1000"/>
              </a:spcAft>
              <a:defRPr sz="1500" b="1">
                <a:solidFill>
                  <a:srgbClr val="0D9488"/>
                </a:solidFill>
              </a:defRPr>
            </a:pPr>
            <a:r>
              <a:t>Key Academic Takeaways</a:t>
            </a:r>
          </a:p>
          <a:p>
            <a:pPr>
              <a:spcAft>
                <a:spcPts val="1000"/>
              </a:spcAft>
              <a:defRPr sz="1100">
                <a:solidFill>
                  <a:srgbClr val="FFFFFF"/>
                </a:solidFill>
              </a:defRPr>
            </a:pPr>
            <a:r>
              <a:t>✔ Bit-level framing provides absolute data transparency for synchronous communication.</a:t>
            </a:r>
          </a:p>
          <a:p>
            <a:pPr>
              <a:spcAft>
                <a:spcPts val="1000"/>
              </a:spcAft>
              <a:defRPr sz="1100">
                <a:solidFill>
                  <a:srgbClr val="FFFFFF"/>
                </a:solidFill>
              </a:defRPr>
            </a:pPr>
            <a:r>
              <a:t>✔ Destuffing logic must strictly validate stream integrity to catch transmission errors.</a:t>
            </a:r>
          </a:p>
          <a:p>
            <a:pPr>
              <a:spcAft>
                <a:spcPts val="1000"/>
              </a:spcAft>
              <a:defRPr sz="1100">
                <a:solidFill>
                  <a:srgbClr val="FFFFFF"/>
                </a:solidFill>
              </a:defRPr>
            </a:pPr>
            <a:r>
              <a:t>✔ Python standard library Tkinter provides a clean platform for real-time protocol visualization.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284C7"/>
                </a:solidFill>
              </a:defRPr>
            </a:pPr>
            <a:r>
              <a:t>NETVISTA 3D — ITUC201</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0F172A"/>
                </a:solidFill>
              </a:defRPr>
            </a:pPr>
            <a:r>
              <a:t>14. References &amp; Academic Declaration</a:t>
            </a:r>
          </a:p>
        </p:txBody>
      </p:sp>
      <p:sp>
        <p:nvSpPr>
          <p:cNvPr id="4" name="Rounded Rectangle 3"/>
          <p:cNvSpPr/>
          <p:nvPr/>
        </p:nvSpPr>
        <p:spPr>
          <a:xfrm>
            <a:off x="731520" y="1371600"/>
            <a:ext cx="10698480" cy="475488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10149840" cy="4389120"/>
          </a:xfrm>
          <a:prstGeom prst="rect">
            <a:avLst/>
          </a:prstGeom>
          <a:noFill/>
        </p:spPr>
        <p:txBody>
          <a:bodyPr wrap="square">
            <a:spAutoFit/>
          </a:bodyPr>
          <a:lstStyle/>
          <a:p>
            <a:pPr>
              <a:spcAft>
                <a:spcPts val="1000"/>
              </a:spcAft>
              <a:defRPr sz="1600" b="1">
                <a:solidFill>
                  <a:srgbClr val="0F172A"/>
                </a:solidFill>
              </a:defRPr>
            </a:pPr>
            <a:r>
              <a:t>Academic References &amp; AI Assistance Declaration</a:t>
            </a:r>
          </a:p>
          <a:p>
            <a:pPr>
              <a:spcAft>
                <a:spcPts val="600"/>
              </a:spcAft>
              <a:defRPr sz="1100">
                <a:solidFill>
                  <a:srgbClr val="1E293B"/>
                </a:solidFill>
              </a:defRPr>
            </a:pPr>
            <a:r>
              <a:t>1. Tanenbaum, A. S., &amp; Wetherall, D. J. (2011). Computer Networks (5th ed.). Pearson.</a:t>
            </a:r>
          </a:p>
          <a:p>
            <a:pPr>
              <a:spcAft>
                <a:spcPts val="600"/>
              </a:spcAft>
              <a:defRPr sz="1100">
                <a:solidFill>
                  <a:srgbClr val="1E293B"/>
                </a:solidFill>
              </a:defRPr>
            </a:pPr>
            <a:r>
              <a:t>2. Forouzan, B. A. (2013). Data Communications and Networking (5th ed.). McGraw-Hill Education.</a:t>
            </a:r>
          </a:p>
          <a:p>
            <a:pPr>
              <a:spcAft>
                <a:spcPts val="600"/>
              </a:spcAft>
              <a:defRPr sz="1100">
                <a:solidFill>
                  <a:srgbClr val="1E293B"/>
                </a:solidFill>
              </a:defRPr>
            </a:pPr>
            <a:r>
              <a:t>3. ISO/IEC 13239:2002. Information technology — Telecommunications and information exchange between systems — High-level data link control (HDLC) procedures.</a:t>
            </a:r>
          </a:p>
          <a:p>
            <a:pPr>
              <a:spcAft>
                <a:spcPts val="600"/>
              </a:spcAft>
              <a:defRPr sz="1100">
                <a:solidFill>
                  <a:srgbClr val="1E293B"/>
                </a:solidFill>
              </a:defRPr>
            </a:pPr>
            <a:r>
              <a:t>4. Python Software Foundation. (2026). Python 3.9 Documentation &amp; Tkinter GUI Toolkit.</a:t>
            </a:r>
          </a:p>
          <a:p>
            <a:pPr>
              <a:spcAft>
                <a:spcPts val="400"/>
              </a:spcAft>
              <a:defRPr sz="1300" b="1">
                <a:solidFill>
                  <a:srgbClr val="0284C7"/>
                </a:solidFill>
              </a:defRPr>
            </a:pPr>
            <a:r>
              <a:t>Institutional AI Declaration:</a:t>
            </a:r>
          </a:p>
          <a:p>
            <a:pPr>
              <a:defRPr sz="1050">
                <a:solidFill>
                  <a:srgbClr val="1E293B"/>
                </a:solidFill>
              </a:defRPr>
            </a:pPr>
            <a:r>
              <a:t>AI assistance was used in accordance with CHARUSAT institutional policies for code structuring, visualization design, and slide compilation. All core logic, verification tests, and technical explanations were independently validated by Student ID 25CS016.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